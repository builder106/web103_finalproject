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946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1457325" cy="1557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200"/>
              </a:lnSpc>
              <a:buNone/>
            </a:pPr>
            <a:r>
              <a:rPr lang="en-US" sz="9327" b="1" i="1" dirty="0">
                <a:solidFill>
                  <a:srgbClr val="8B5CF6">
                    <a:alpha val="1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327" dirty="0"/>
          </a:p>
        </p:txBody>
      </p:sp>
      <p:sp>
        <p:nvSpPr>
          <p:cNvPr id="4" name="Text 1"/>
          <p:cNvSpPr/>
          <p:nvPr/>
        </p:nvSpPr>
        <p:spPr>
          <a:xfrm>
            <a:off x="714375" y="1221498"/>
            <a:ext cx="5715000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353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SPRINT
TRACKER</a:t>
            </a:r>
            <a:endParaRPr lang="en-US" sz="4353" dirty="0"/>
          </a:p>
        </p:txBody>
      </p:sp>
      <p:sp>
        <p:nvSpPr>
          <p:cNvPr id="5" name="Text 2"/>
          <p:cNvSpPr/>
          <p:nvPr/>
        </p:nvSpPr>
        <p:spPr>
          <a:xfrm>
            <a:off x="714375" y="2684515"/>
            <a:ext cx="5715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Your Academic Momentum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714375" y="3425679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
</a:t>
            </a: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Olayinka Vaughan, Osmani Hernandez, &amp; Adit Syed Afnan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14375" y="4168629"/>
            <a:ext cx="5715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i="1" kern="0" spc="2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CODEPATH WEB103 FINAL PROJECT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86638" y="285750"/>
            <a:ext cx="1328738" cy="121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500"/>
              </a:lnSpc>
              <a:buNone/>
            </a:pPr>
            <a:r>
              <a:rPr lang="en-US" sz="7254" b="1" i="1" dirty="0">
                <a:solidFill>
                  <a:srgbClr val="10B981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254" dirty="0"/>
          </a:p>
        </p:txBody>
      </p:sp>
      <p:sp>
        <p:nvSpPr>
          <p:cNvPr id="4" name="Text 1"/>
          <p:cNvSpPr/>
          <p:nvPr/>
        </p:nvSpPr>
        <p:spPr>
          <a:xfrm>
            <a:off x="571500" y="736922"/>
            <a:ext cx="85725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HIGH COST OF UNSTRUCTURED STUDY</a:t>
            </a:r>
            <a:endParaRPr lang="en-US" sz="2649" dirty="0"/>
          </a:p>
        </p:txBody>
      </p:sp>
      <p:sp>
        <p:nvSpPr>
          <p:cNvPr id="5" name="Text 2"/>
          <p:cNvSpPr/>
          <p:nvPr/>
        </p:nvSpPr>
        <p:spPr>
          <a:xfrm>
            <a:off x="571500" y="1687041"/>
            <a:ext cx="3786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study methods often lack a centralized way to track </a:t>
            </a:r>
            <a:r>
              <a:rPr lang="en-US" sz="987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deliberate practice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leading to fragmented effort and a loss of academic momentum.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515716"/>
            <a:ext cx="3786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frequently struggle to see the "big picture" of their progress across multiple subjects, making abstract intentions difficult to sustain.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3344391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Sprint Tracker transforms this by making every minute of study visible and every goal achievable.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86313" y="1544166"/>
            <a:ext cx="3786188" cy="2497410"/>
          </a:xfrm>
          <a:prstGeom prst="rect">
            <a:avLst/>
          </a:prstGeom>
          <a:solidFill>
            <a:srgbClr val="8B5CF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86313" y="1544166"/>
            <a:ext cx="3786188" cy="5715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72063" y="1829916"/>
            <a:ext cx="321468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974" b="1" i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</a:t>
            </a:r>
            <a:endParaRPr lang="en-US" sz="4974" dirty="0"/>
          </a:p>
        </p:txBody>
      </p:sp>
      <p:sp>
        <p:nvSpPr>
          <p:cNvPr id="11" name="Text 8"/>
          <p:cNvSpPr/>
          <p:nvPr/>
        </p:nvSpPr>
        <p:spPr>
          <a:xfrm>
            <a:off x="5072063" y="2587154"/>
            <a:ext cx="32146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 LOSS DUE TO CONTEXT SWITCHING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072063" y="3144366"/>
            <a:ext cx="32146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study sessions lead to a significant decrease in retention and focus.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66992" y="285750"/>
            <a:ext cx="1348383" cy="121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500"/>
              </a:lnSpc>
              <a:buNone/>
            </a:pPr>
            <a:r>
              <a:rPr lang="en-US" sz="7254" b="1" i="1" dirty="0">
                <a:solidFill>
                  <a:srgbClr val="8B5CF6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254" dirty="0"/>
          </a:p>
        </p:txBody>
      </p:sp>
      <p:sp>
        <p:nvSpPr>
          <p:cNvPr id="4" name="Text 1"/>
          <p:cNvSpPr/>
          <p:nvPr/>
        </p:nvSpPr>
        <p:spPr>
          <a:xfrm>
            <a:off x="571500" y="736922"/>
            <a:ext cx="85725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INTENTIONS INTO RESULTS</a:t>
            </a:r>
            <a:endParaRPr lang="en-US" sz="2649" dirty="0"/>
          </a:p>
        </p:txBody>
      </p:sp>
      <p:sp>
        <p:nvSpPr>
          <p:cNvPr id="5" name="Text 2"/>
          <p:cNvSpPr/>
          <p:nvPr/>
        </p:nvSpPr>
        <p:spPr>
          <a:xfrm>
            <a:off x="571500" y="1544166"/>
            <a:ext cx="3400425" cy="325041"/>
          </a:xfrm>
          <a:prstGeom prst="rect">
            <a:avLst/>
          </a:prstGeom>
          <a:noFill/>
          <a:ln/>
        </p:spPr>
        <p:txBody>
          <a:bodyPr wrap="square" lIns="8509" tIns="8509" rIns="8509" bIns="1275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i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HIGH-IMPACT WORKFLOW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71500" y="1869207"/>
            <a:ext cx="871538" cy="80010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1443038" y="1869207"/>
            <a:ext cx="2528888" cy="80010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clear, time-bound objectives to eliminate ambiguity in your study schedule.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669307"/>
            <a:ext cx="871538" cy="80010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443038" y="2669307"/>
            <a:ext cx="2528888" cy="80010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integrated live timer to log focused effort without leaving your workspace.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469407"/>
            <a:ext cx="871538" cy="603647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443038" y="3469407"/>
            <a:ext cx="2528888" cy="603647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real-time progress bars that turn hard work into motivating visual data.</a:t>
            </a:r>
            <a:endParaRPr lang="en-US" sz="942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7675" y="1429866"/>
            <a:ext cx="4314825" cy="2886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4845" y="285750"/>
            <a:ext cx="1380530" cy="121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500"/>
              </a:lnSpc>
              <a:buNone/>
            </a:pPr>
            <a:r>
              <a:rPr lang="en-US" sz="7254" b="1" i="1" dirty="0">
                <a:solidFill>
                  <a:srgbClr val="8B5CF6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254" dirty="0"/>
          </a:p>
        </p:txBody>
      </p:sp>
      <p:sp>
        <p:nvSpPr>
          <p:cNvPr id="4" name="Text 1"/>
          <p:cNvSpPr/>
          <p:nvPr/>
        </p:nvSpPr>
        <p:spPr>
          <a:xfrm>
            <a:off x="571500" y="736922"/>
            <a:ext cx="4806957" cy="4263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THE "</a:t>
            </a:r>
            <a:r>
              <a:rPr lang="en-US" sz="2650" b="1" i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</a:rPr>
              <a:t>FLOW STATE</a:t>
            </a:r>
            <a:r>
              <a:rPr lang="en-US" sz="2649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2649" dirty="0"/>
          </a:p>
        </p:txBody>
      </p:sp>
      <p:sp>
        <p:nvSpPr>
          <p:cNvPr id="5" name="Shape 2"/>
          <p:cNvSpPr/>
          <p:nvPr/>
        </p:nvSpPr>
        <p:spPr>
          <a:xfrm>
            <a:off x="571500" y="1544166"/>
            <a:ext cx="428625" cy="2857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1500" y="1887066"/>
            <a:ext cx="37861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FRICTION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571500" y="2272829"/>
            <a:ext cx="3786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application's core philosophy is </a:t>
            </a:r>
            <a:r>
              <a:rPr lang="en-US" sz="987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context switching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By utilizing same-page interactions, students can log their work without losing their place.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86313" y="1544166"/>
            <a:ext cx="428625" cy="2857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86313" y="1887066"/>
            <a:ext cx="37861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 CONTROL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4786313" y="2272829"/>
            <a:ext cx="3786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987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 Detail View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serves as a mission control for every subject, featuring a high-precision timer and recent session history in one unified interface.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1500" y="3387254"/>
            <a:ext cx="428625" cy="2857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1500" y="3730154"/>
            <a:ext cx="37861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INTERACTION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571500" y="4115916"/>
            <a:ext cx="3786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modals for session logging ensure that the user's current workspace remains intact, fostering a deeper level of </a:t>
            </a:r>
            <a:r>
              <a:rPr lang="en-US" sz="987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concentration and focus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86313" y="3387254"/>
            <a:ext cx="428625" cy="2857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86313" y="3730154"/>
            <a:ext cx="37861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FEEDBACK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4786313" y="4115916"/>
            <a:ext cx="3786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progress updates provide immediate positive reinforcement, helping students maintain their </a:t>
            </a:r>
            <a:r>
              <a:rPr lang="en-US" sz="987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momentum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throughout the semester.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0209" y="285750"/>
            <a:ext cx="1325166" cy="121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500"/>
              </a:lnSpc>
              <a:buNone/>
            </a:pPr>
            <a:r>
              <a:rPr lang="en-US" sz="7254" b="1" i="1" dirty="0">
                <a:solidFill>
                  <a:srgbClr val="8B5CF6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254" dirty="0"/>
          </a:p>
        </p:txBody>
      </p:sp>
      <p:sp>
        <p:nvSpPr>
          <p:cNvPr id="4" name="Text 1"/>
          <p:cNvSpPr/>
          <p:nvPr/>
        </p:nvSpPr>
        <p:spPr>
          <a:xfrm>
            <a:off x="571500" y="736922"/>
            <a:ext cx="85725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RELIABILITY AND SCALE</a:t>
            </a:r>
            <a:endParaRPr lang="en-US" sz="2649" dirty="0"/>
          </a:p>
        </p:txBody>
      </p:sp>
      <p:sp>
        <p:nvSpPr>
          <p:cNvPr id="5" name="Text 2"/>
          <p:cNvSpPr/>
          <p:nvPr/>
        </p:nvSpPr>
        <p:spPr>
          <a:xfrm>
            <a:off x="571500" y="1701329"/>
            <a:ext cx="3786188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the user experience is simple, the underlying technology is built for </a:t>
            </a:r>
            <a:r>
              <a:rPr lang="en-US" sz="109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 and performance</a:t>
            </a:r>
            <a:r>
              <a:rPr lang="en-US" sz="1159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application leverages a modern stack to ensure that student data is always secure and accessible.</a:t>
            </a:r>
            <a:endParaRPr lang="en-US" sz="1159" dirty="0"/>
          </a:p>
        </p:txBody>
      </p:sp>
      <p:sp>
        <p:nvSpPr>
          <p:cNvPr id="6" name="Text 3"/>
          <p:cNvSpPr/>
          <p:nvPr/>
        </p:nvSpPr>
        <p:spPr>
          <a:xfrm>
            <a:off x="571500" y="2864309"/>
            <a:ext cx="3786188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functional and hosted on </a:t>
            </a:r>
            <a:r>
              <a:rPr lang="en-US" sz="109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</a:t>
            </a:r>
            <a:r>
              <a:rPr lang="en-US" sz="1159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ready for immediate student adoption.</a:t>
            </a:r>
            <a:endParaRPr lang="en-US" sz="1159" dirty="0"/>
          </a:p>
        </p:txBody>
      </p:sp>
      <p:sp>
        <p:nvSpPr>
          <p:cNvPr id="7" name="Shape 4"/>
          <p:cNvSpPr/>
          <p:nvPr/>
        </p:nvSpPr>
        <p:spPr>
          <a:xfrm>
            <a:off x="4786313" y="1544166"/>
            <a:ext cx="3786188" cy="3050381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786313" y="1544166"/>
            <a:ext cx="3786188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72063" y="1829916"/>
            <a:ext cx="32146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5072063" y="2072804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Responsive, component-driven user interface for seamless interaction.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072063" y="2637160"/>
            <a:ext cx="32146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Express.js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072063" y="2880047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backend framework handling complex business logic and API requests.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072063" y="3444404"/>
            <a:ext cx="32146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5072063" y="3687291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relational database ensuring data integrity and secure persistence.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61634" y="285750"/>
            <a:ext cx="1353741" cy="121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500"/>
              </a:lnSpc>
              <a:buNone/>
            </a:pPr>
            <a:r>
              <a:rPr lang="en-US" sz="7254" b="1" i="1" dirty="0">
                <a:solidFill>
                  <a:srgbClr val="10B981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254" dirty="0"/>
          </a:p>
        </p:txBody>
      </p:sp>
      <p:sp>
        <p:nvSpPr>
          <p:cNvPr id="4" name="Text 1"/>
          <p:cNvSpPr/>
          <p:nvPr/>
        </p:nvSpPr>
        <p:spPr>
          <a:xfrm>
            <a:off x="714375" y="871091"/>
            <a:ext cx="642937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FUTURE OF
ACADEMIC EXCELLENCE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714375" y="2091221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Sprint Tracker is more than just a timer; it is a catalyst for academic growth. By making deliberate practice measurable, we empower students to take full control of their time and academic destiny.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714375" y="3271335"/>
            <a:ext cx="6429375" cy="771525"/>
          </a:xfrm>
          <a:prstGeom prst="rect">
            <a:avLst/>
          </a:prstGeom>
          <a:solidFill>
            <a:srgbClr val="8B5CF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4375" y="3271335"/>
            <a:ext cx="71438" cy="77152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00125" y="3557085"/>
            <a:ext cx="58578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gets measured, gets managed. Study Sprint Tracker makes academic success a visible reality."</a:t>
            </a:r>
            <a:endParaRPr lang="en-US" sz="1397" dirty="0"/>
          </a:p>
        </p:txBody>
      </p:sp>
      <p:sp>
        <p:nvSpPr>
          <p:cNvPr id="9" name="Shape 6"/>
          <p:cNvSpPr/>
          <p:nvPr/>
        </p:nvSpPr>
        <p:spPr>
          <a:xfrm>
            <a:off x="692174" y="4400048"/>
            <a:ext cx="1933924" cy="25181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2174" y="4400048"/>
            <a:ext cx="1933924" cy="251817"/>
          </a:xfrm>
          <a:prstGeom prst="rect">
            <a:avLst/>
          </a:prstGeom>
          <a:noFill/>
          <a:ln/>
        </p:spPr>
        <p:txBody>
          <a:bodyPr wrap="square" lIns="204089" tIns="68072" rIns="204089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i="1" kern="0" spc="2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ADOPTION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438</Words>
  <Application>Microsoft Macintosh PowerPoint</Application>
  <PresentationFormat>On-screen Show (16:9)</PresentationFormat>
  <Paragraphs>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Yinka Vaughan</cp:lastModifiedBy>
  <cp:revision>2</cp:revision>
  <dcterms:created xsi:type="dcterms:W3CDTF">2026-04-15T23:44:18Z</dcterms:created>
  <dcterms:modified xsi:type="dcterms:W3CDTF">2026-04-16T00:34:02Z</dcterms:modified>
</cp:coreProperties>
</file>